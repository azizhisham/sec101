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5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93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91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6" r:id="rId29"/>
    <p:sldId id="287" r:id="rId30"/>
    <p:sldId id="289" r:id="rId31"/>
    <p:sldId id="290" r:id="rId32"/>
  </p:sldIdLst>
  <p:sldSz cx="14630400" cy="8229600"/>
  <p:notesSz cx="8229600" cy="146304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Tomorrow" panose="020B0604020202020204" charset="0"/>
      <p:regular r:id="rId40"/>
    </p:embeddedFont>
    <p:embeddedFont>
      <p:font typeface="Tomorrow Semi Bold" panose="020B0604020202020204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49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194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C7B1-B401-43EC-9244-9E53BA051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A4AB4-A226-47C7-85F7-726B35CE2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86591-57E2-4528-841E-3488A5FC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FA3A6-2A3F-4895-B9F2-C9C1E7DC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F7D18-CAE8-4427-925A-733B72BB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572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5073-D875-41EA-971A-CDD89DCA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BC059-45BD-4DC5-9DEC-52196889B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530C3-4369-42FF-A769-5F30D8CDA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D01FA-2A32-4425-94B6-4E7D6460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CB48D-7DF9-4C99-AC8D-F26B39B8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587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9D02-7D29-4958-8846-0D9DABEE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EED97-4063-4085-AC38-31C6F6A0C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996B-BC80-4AEC-995E-35F3E6DC7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57E00-CDA9-4813-A1D8-D3D5D7FB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223DA-B9A0-4049-B2CD-B119A8AED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475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9BE61-8784-4D02-8419-89D8DDAC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490A-8649-4863-866A-DC5FC3D90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6EB02-3245-45E6-B616-3DB006482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79BCB-D51F-4990-844A-DBCBDD0C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E52BE-9DA0-4497-9B44-4FD1E7EC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30BFF-9892-4031-8861-BD4C5520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067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E168-6B63-4050-B140-341AC7E0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D83E4-DCEA-41D2-A204-0CD8A5C18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D0CF2-C271-4786-9937-949A54014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B3740-F7CC-4275-979B-77CC61E1B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E4CFD-7B33-448B-B4F7-83AFA6413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E7F63-0EED-4178-8874-12BF661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508DC-7ED7-40FE-AF51-F13033473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8DF0E6-2C47-461C-828A-0960B712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53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9133-9D50-4B8F-A713-8987190E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BFEB7-DC2A-46C3-8007-3118C2A00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AB95C-E70D-4FFB-8E8B-AAB9AE41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38012-0B86-4477-AFAC-F576995F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374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C1970-5A1D-4D6C-9FCE-D5B2D5F4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ECB8D-0377-42DB-9232-9089426C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77168-649F-4FA8-85E6-E8DA23BD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632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AC8C-9109-4216-BB12-22A44FB1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CFC31-8B70-4A9D-83DD-5C6784043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190E-8A08-4B39-BD98-045CBE18B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2478A-5B14-4BDB-8E99-41ED0B9D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BAFA1-0186-4F7D-BB0E-48B29E6A0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E7F8B-C89E-40EA-939E-47A769B4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379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0C0EC-BB83-4696-BC5B-4B567E3C6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14C27-5571-4D26-8F48-07AF34150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78B57-40C1-43D4-BC7A-B82F57112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7A230-1490-408F-8026-EEFB80D7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D62F7-51ED-4184-A483-6788214A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D5793-A8EB-40C3-A6D7-CF1D132D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170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B0CE-6BF8-4ED9-AA15-93B796C0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BB78C-4899-42EE-891B-A9205FBE4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E29F4-6B6D-46B8-83D0-F5D64E78A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0C052-550A-44FD-99E4-4FD29938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EC0CA-D760-4A75-92CD-4C15B1BA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941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873F6-F2D6-46C9-807D-EE0C30C475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5D947-7BDF-44C3-9F2D-E807CB2B7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B3BB6-7A98-42E6-A5E2-C5BCC996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27181-58DF-4214-B636-18012D29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DBDB0-F9AA-4463-9C04-B2D2B1CF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697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987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758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0638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208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975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067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299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463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8847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347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6324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394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1165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937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0967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9536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9112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0930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2520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3799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9706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5763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3799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2275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827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5106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307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3495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91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85ED8-31AD-43AF-B595-C506FFDCB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C92FD-54FD-49C0-8716-4AB48E48C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D52C7-C726-4312-9121-5C50A6C37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1C832-6AEA-4051-BEF7-86706BFB569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07E8-F10C-44EF-A8D5-1A90E4E71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AE568-C2E1-4EB8-86B5-872F51EC7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D7BCE-BF94-47B6-8944-82A7BC8A8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1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14" r:id="rId27"/>
    <p:sldLayoutId id="2147483715" r:id="rId28"/>
    <p:sldLayoutId id="2147483716" r:id="rId29"/>
    <p:sldLayoutId id="2147483717" r:id="rId30"/>
    <p:sldLayoutId id="2147483718" r:id="rId31"/>
    <p:sldLayoutId id="2147483719" r:id="rId32"/>
    <p:sldLayoutId id="2147483720" r:id="rId33"/>
    <p:sldLayoutId id="2147483722" r:id="rId34"/>
    <p:sldLayoutId id="2147483723" r:id="rId35"/>
    <p:sldLayoutId id="2147483724" r:id="rId36"/>
    <p:sldLayoutId id="2147483727" r:id="rId37"/>
    <p:sldLayoutId id="2147483728" r:id="rId38"/>
    <p:sldLayoutId id="2147483730" r:id="rId39"/>
    <p:sldLayoutId id="2147483731" r:id="rId4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19" Type="http://schemas.openxmlformats.org/officeDocument/2006/relationships/image" Target="../media/image24.pn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28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9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2568" y="3804761"/>
            <a:ext cx="85532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Chapter 1: Software and Security Concepts</a:t>
            </a:r>
          </a:p>
          <a:p>
            <a:pPr marL="0" indent="0" algn="l">
              <a:lnSpc>
                <a:spcPts val="4850"/>
              </a:lnSpc>
              <a:buNone/>
            </a:pPr>
            <a:endParaRPr lang="en-US" sz="3900" dirty="0">
              <a:solidFill>
                <a:srgbClr val="1D1D1B"/>
              </a:solidFill>
              <a:latin typeface="Times New Roman" panose="02020603050405020304" pitchFamily="18" charset="0"/>
              <a:ea typeface="Tomorrow Semi Bold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4850"/>
              </a:lnSpc>
              <a:buNone/>
            </a:pPr>
            <a:endParaRPr lang="en-US" sz="3900" dirty="0">
              <a:solidFill>
                <a:srgbClr val="1D1D1B"/>
              </a:solidFill>
              <a:latin typeface="Times New Roman" panose="02020603050405020304" pitchFamily="18" charset="0"/>
              <a:ea typeface="Tomorrow Semi Bold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4850"/>
              </a:lnSpc>
              <a:buNone/>
            </a:pP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EDC1BE-EADC-476D-A72F-5BF6760177EC}"/>
              </a:ext>
            </a:extLst>
          </p:cNvPr>
          <p:cNvSpPr/>
          <p:nvPr/>
        </p:nvSpPr>
        <p:spPr>
          <a:xfrm>
            <a:off x="2818502" y="1165128"/>
            <a:ext cx="819732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Security: Concepts &amp; Practices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06874" y="877371"/>
            <a:ext cx="840902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 Software </a:t>
            </a: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</p:txBody>
      </p:sp>
      <p:sp>
        <p:nvSpPr>
          <p:cNvPr id="5" name="Text 3"/>
          <p:cNvSpPr/>
          <p:nvPr/>
        </p:nvSpPr>
        <p:spPr>
          <a:xfrm>
            <a:off x="793789" y="1882794"/>
            <a:ext cx="13072818" cy="564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has multifaceted qualities, with controlling digital retrieval of important attributes as the fundamental premise</a:t>
            </a:r>
            <a:r>
              <a:rPr lang="en-US" sz="28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Software Security </a:t>
            </a: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refers to the study of software-induced security threats and techniques for managing them. 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Good software security practices leverage best practices from software engineering principles and incorporate security into the development life cycle at early stages: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What will we secure and from whom?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How can attackers harm us? 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What are the direct and indirect breach methods? 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What security measures should be taken for identification and prevention?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How much security is enough?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25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58535"/>
            <a:ext cx="2015252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725686"/>
            <a:ext cx="17618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D1D1B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REAL-WORLD THREATS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126212"/>
            <a:ext cx="91407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The Rising Tide of Security Breaches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4219575"/>
            <a:ext cx="13042821" cy="22860"/>
          </a:xfrm>
          <a:prstGeom prst="roundRect">
            <a:avLst>
              <a:gd name="adj" fmla="val 130232"/>
            </a:avLst>
          </a:prstGeom>
          <a:solidFill>
            <a:srgbClr val="D6D0D0"/>
          </a:solidFill>
          <a:ln/>
        </p:spPr>
      </p:sp>
      <p:sp>
        <p:nvSpPr>
          <p:cNvPr id="6" name="Shape 4"/>
          <p:cNvSpPr/>
          <p:nvPr/>
        </p:nvSpPr>
        <p:spPr>
          <a:xfrm>
            <a:off x="3980974" y="3624263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6D0D0"/>
          </a:solidFill>
          <a:ln/>
        </p:spPr>
      </p:sp>
      <p:sp>
        <p:nvSpPr>
          <p:cNvPr id="7" name="Shape 5"/>
          <p:cNvSpPr/>
          <p:nvPr/>
        </p:nvSpPr>
        <p:spPr>
          <a:xfrm>
            <a:off x="3769162" y="399633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8" name="Text 6"/>
          <p:cNvSpPr/>
          <p:nvPr/>
        </p:nvSpPr>
        <p:spPr>
          <a:xfrm>
            <a:off x="3843576" y="403354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1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52011" y="20439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March 2011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92148" y="2473166"/>
            <a:ext cx="60006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DroidDream Trojan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discovered on Google's official Android Market, marking early mobile security threats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03651" y="4219575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6D0D0"/>
          </a:solidFill>
          <a:ln/>
        </p:spPr>
      </p:sp>
      <p:sp>
        <p:nvSpPr>
          <p:cNvPr id="12" name="Shape 10"/>
          <p:cNvSpPr/>
          <p:nvPr/>
        </p:nvSpPr>
        <p:spPr>
          <a:xfrm>
            <a:off x="7091839" y="399633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7166253" y="403354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2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74688" y="50133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</a:t>
            </a: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</p:txBody>
      </p:sp>
      <p:sp>
        <p:nvSpPr>
          <p:cNvPr id="15" name="Text 13"/>
          <p:cNvSpPr/>
          <p:nvPr/>
        </p:nvSpPr>
        <p:spPr>
          <a:xfrm>
            <a:off x="3384530" y="5406167"/>
            <a:ext cx="756344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Dridex Trojan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enters top ten </a:t>
            </a:r>
            <a:r>
              <a:rPr lang="en-US" sz="2000" b="1" u="sng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malware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list, capable of downloading </a:t>
            </a:r>
            <a:r>
              <a:rPr lang="en-US" sz="2000" b="1" u="sng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ransomware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like BitPaymer and DoppelPaymer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626447" y="3624263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6D0D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14635" y="399633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18" name="Text 16"/>
          <p:cNvSpPr/>
          <p:nvPr/>
        </p:nvSpPr>
        <p:spPr>
          <a:xfrm>
            <a:off x="10489049" y="403354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3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397365" y="20439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</a:t>
            </a: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</a:p>
        </p:txBody>
      </p:sp>
      <p:sp>
        <p:nvSpPr>
          <p:cNvPr id="20" name="Text 18"/>
          <p:cNvSpPr/>
          <p:nvPr/>
        </p:nvSpPr>
        <p:spPr>
          <a:xfrm>
            <a:off x="7637502" y="2473166"/>
            <a:ext cx="600075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Android Vulnerabilities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US DHS reports 44% of Android users running vulnerable Gingerbread version with significant security flaws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9408" y="6616415"/>
            <a:ext cx="13536188" cy="1774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Unsecured software allow attackers to compromise security by identifying application weaknesses. 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Smartphone applications weaknesses exploited for malicious activities. 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actions are needed to prevent malicious applications.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9486"/>
            <a:ext cx="763452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Mobile Security Vulnerabilities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65578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205B</a:t>
            </a:r>
            <a:endParaRPr lang="en-US" sz="5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0613" y="26685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Mobile App Downloads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6467" y="1765578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150"/>
              </a:lnSpc>
            </a:pPr>
            <a:r>
              <a:rPr lang="en-US" sz="51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</a:p>
        </p:txBody>
      </p:sp>
      <p:sp>
        <p:nvSpPr>
          <p:cNvPr id="7" name="Text 5"/>
          <p:cNvSpPr/>
          <p:nvPr/>
        </p:nvSpPr>
        <p:spPr>
          <a:xfrm>
            <a:off x="4413290" y="26685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Banking App Users</a:t>
            </a:r>
          </a:p>
        </p:txBody>
      </p:sp>
      <p:sp>
        <p:nvSpPr>
          <p:cNvPr id="9" name="Text 7"/>
          <p:cNvSpPr/>
          <p:nvPr/>
        </p:nvSpPr>
        <p:spPr>
          <a:xfrm>
            <a:off x="7439144" y="1765578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r>
              <a:rPr lang="en-US" sz="515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%</a:t>
            </a:r>
            <a:endParaRPr lang="en-US" sz="5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35967" y="26685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 Vulnerabilities</a:t>
            </a:r>
          </a:p>
        </p:txBody>
      </p:sp>
      <p:sp>
        <p:nvSpPr>
          <p:cNvPr id="12" name="Text 10"/>
          <p:cNvSpPr/>
          <p:nvPr/>
        </p:nvSpPr>
        <p:spPr>
          <a:xfrm>
            <a:off x="10761821" y="1765578"/>
            <a:ext cx="30747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en-US" sz="515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%</a:t>
            </a:r>
            <a:endParaRPr lang="en-US" sz="5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866120" y="2668548"/>
            <a:ext cx="28660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Vulnerabilities</a:t>
            </a:r>
          </a:p>
        </p:txBody>
      </p:sp>
      <p:sp>
        <p:nvSpPr>
          <p:cNvPr id="15" name="Shape 13"/>
          <p:cNvSpPr/>
          <p:nvPr/>
        </p:nvSpPr>
        <p:spPr>
          <a:xfrm>
            <a:off x="793789" y="3886498"/>
            <a:ext cx="13042821" cy="32385"/>
          </a:xfrm>
          <a:prstGeom prst="rect">
            <a:avLst/>
          </a:prstGeom>
          <a:solidFill>
            <a:srgbClr val="61615C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70308" y="4804291"/>
            <a:ext cx="40849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Security Concerns</a:t>
            </a:r>
          </a:p>
        </p:txBody>
      </p:sp>
      <p:sp>
        <p:nvSpPr>
          <p:cNvPr id="17" name="Text 15"/>
          <p:cNvSpPr/>
          <p:nvPr/>
        </p:nvSpPr>
        <p:spPr>
          <a:xfrm>
            <a:off x="793790" y="5397103"/>
            <a:ext cx="6279356" cy="134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Data Storage</a:t>
            </a:r>
          </a:p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Protection — Weak authentication mechanisms</a:t>
            </a:r>
          </a:p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Personal Data Privacy — Insufficient privacy controls</a:t>
            </a:r>
          </a:p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Credentials — Vulnerable payment information storage</a:t>
            </a:r>
          </a:p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95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95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95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0159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endParaRPr lang="en-US" sz="195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3790" y="648854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endParaRPr lang="en-US" sz="195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3790" y="6875502"/>
            <a:ext cx="6279356" cy="63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endParaRPr lang="en-US" sz="195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64874" y="610159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endParaRPr lang="en-US" sz="195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64874" y="648854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endParaRPr lang="en-US" sz="195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64874" y="687550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endParaRPr lang="en-US" sz="195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1555"/>
            <a:ext cx="917459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International Security Organizations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797" y="2256227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1797" y="30003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(ISC)² Consortium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41797" y="3429588"/>
            <a:ext cx="639734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International Information Systems Security Certification Consortium — Provides professional certification and knowledge framework covering ten security domains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7151" y="2256227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7151" y="30003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ISO Standards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87151" y="3429588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International Standards Organization — Develops and maintains international security standards and best practices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797" y="4779043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1797" y="55231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IIA Framework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41797" y="5952404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Institute of Internal Auditors — Establishes auditing standards and guidelines for security assessment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7151" y="4779043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87151" y="55231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ISSA Leadership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687151" y="5952404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Information Systems Security Association — Provides direction for confirming and endorsing security principles globally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1999" y="495454"/>
            <a:ext cx="1900952" cy="353139"/>
          </a:xfrm>
          <a:prstGeom prst="roundRect">
            <a:avLst>
              <a:gd name="adj" fmla="val 6389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864751" y="573286"/>
            <a:ext cx="1675448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KNOWLEDGE DOMAINS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1999" y="945237"/>
            <a:ext cx="8736211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(ISC)² Ten Security Knowledge Areas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1999" y="1983938"/>
            <a:ext cx="6333887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Information Security System Management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Governance and strategic planning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1999" y="2651165"/>
            <a:ext cx="6333887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Access Control Systems Methodologies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Authentication and authorization frameworks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1999" y="3318391"/>
            <a:ext cx="6333887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Cryptographic Techniques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Encryption and data protection methods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1999" y="3985617"/>
            <a:ext cx="6333887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Physical Security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Protection of physical assets and infrastructure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1999" y="4652843"/>
            <a:ext cx="6333887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5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Enterprise Security Architecture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Comprehensive security design and implementation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2134" y="1983938"/>
            <a:ext cx="6333887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6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Application Security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Software-specific security measures and practices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52134" y="2651165"/>
            <a:ext cx="6333887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7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Networks and Telecommunications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Communication security protocols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52134" y="3318391"/>
            <a:ext cx="6333887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8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Laws, Investigations, and Ethics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Legal and ethical frameworks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52134" y="3985617"/>
            <a:ext cx="6333887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9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Business Continuity Planning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Disaster recovery &amp; resilience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52134" y="4352092"/>
            <a:ext cx="6333887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10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Operational Security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Day-to-day security operations and monitoring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1999" y="5531525"/>
            <a:ext cx="13126402" cy="2182773"/>
          </a:xfrm>
          <a:prstGeom prst="roundRect">
            <a:avLst>
              <a:gd name="adj" fmla="val 1292"/>
            </a:avLst>
          </a:prstGeom>
          <a:solidFill>
            <a:srgbClr val="DADAD7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98" y="5796915"/>
            <a:ext cx="293727" cy="23502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21725" y="5766435"/>
            <a:ext cx="3980140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Expert Perspective: Gary McGraw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21725" y="6198751"/>
            <a:ext cx="12268676" cy="120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"Software security is about understanding software-induced security risks and how to manage them. Good software security practice leverages good software engineering practice. It involves thinking about security early in the software life-cycle, knowing and understanding common problems, designing for security, and subjecting all software artifacts to thorough, objective risk analyses and testing."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64726"/>
            <a:ext cx="2070021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731877"/>
            <a:ext cx="181665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D1D1B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CRITICAL PERSPECTIVE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132403"/>
            <a:ext cx="120451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Software Security: A Knowledge-Intensive Field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050137"/>
            <a:ext cx="13042821" cy="1360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Software security is a knowledge-intensive field requiring comprehensive understanding across multiple domains.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The primary security principle involves managing those who have the right to use physical or intellectual property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Our society's increasing dependence on information technology, portable devices and mobile applications.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013949" y="5471143"/>
            <a:ext cx="2441138" cy="70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89%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949" y="4732426"/>
            <a:ext cx="2242605" cy="19794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81544" y="6923230"/>
            <a:ext cx="590594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 exploit approximately 89% of vulnerabilities to access Smartphone’s for stealing data with the help of malware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5248"/>
            <a:ext cx="84968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Mobile Security Threat Landscape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1327" y="3255169"/>
            <a:ext cx="46290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47E053C2-1D9D-41FA-9424-B1FA1B567FD2}"/>
              </a:ext>
            </a:extLst>
          </p:cNvPr>
          <p:cNvSpPr/>
          <p:nvPr/>
        </p:nvSpPr>
        <p:spPr>
          <a:xfrm>
            <a:off x="591888" y="2721709"/>
            <a:ext cx="6279356" cy="1066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89% of vulnerabilities exploited to access smartphones</a:t>
            </a:r>
          </a:p>
          <a:p>
            <a:pPr>
              <a:lnSpc>
                <a:spcPts val="2400"/>
              </a:lnSpc>
            </a:pPr>
            <a:endParaRPr lang="en-US" sz="35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60% of vulnerabilities are client-side</a:t>
            </a:r>
          </a:p>
          <a:p>
            <a:pPr>
              <a:lnSpc>
                <a:spcPts val="2400"/>
              </a:lnSpc>
            </a:pPr>
            <a:endParaRPr lang="en-US" sz="35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89% exploitable without physical device access (remotely)</a:t>
            </a:r>
          </a:p>
          <a:p>
            <a:pPr>
              <a:lnSpc>
                <a:spcPts val="2400"/>
              </a:lnSpc>
            </a:pPr>
            <a:endParaRPr lang="en-US" sz="35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56% exploitable without administrator rights</a:t>
            </a:r>
          </a:p>
          <a:p>
            <a:pPr algn="ctr">
              <a:lnSpc>
                <a:spcPts val="2400"/>
              </a:lnSpc>
            </a:pPr>
            <a:endParaRPr lang="en-US" sz="35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</a:pPr>
            <a:endParaRPr lang="en-US" sz="35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</a:pPr>
            <a:endParaRPr lang="en-US" sz="35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FE61-1C42-42BB-AA9A-DABF6E7D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384362"/>
            <a:ext cx="12618720" cy="159067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Identified Mobile OS Threats</a:t>
            </a:r>
            <a:endParaRPr lang="en-US" sz="4000" dirty="0"/>
          </a:p>
        </p:txBody>
      </p:sp>
      <p:sp>
        <p:nvSpPr>
          <p:cNvPr id="4" name="Text 13">
            <a:extLst>
              <a:ext uri="{FF2B5EF4-FFF2-40B4-BE49-F238E27FC236}">
                <a16:creationId xmlns:a16="http://schemas.microsoft.com/office/drawing/2014/main" id="{7D72E9E7-FF6B-4881-BF49-3DB2A3E064A2}"/>
              </a:ext>
            </a:extLst>
          </p:cNvPr>
          <p:cNvSpPr/>
          <p:nvPr/>
        </p:nvSpPr>
        <p:spPr>
          <a:xfrm>
            <a:off x="898789" y="2628106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SMS Trojans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Malicious text message-based attacks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1F67F418-FC87-4A63-8100-A8763351989A}"/>
              </a:ext>
            </a:extLst>
          </p:cNvPr>
          <p:cNvSpPr/>
          <p:nvPr/>
        </p:nvSpPr>
        <p:spPr>
          <a:xfrm>
            <a:off x="898787" y="3216831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Rootkits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Deep system-level compromises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A5F05575-6B57-4AC4-B67A-B39AD07D48FD}"/>
              </a:ext>
            </a:extLst>
          </p:cNvPr>
          <p:cNvSpPr/>
          <p:nvPr/>
        </p:nvSpPr>
        <p:spPr>
          <a:xfrm>
            <a:off x="898788" y="3805556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Fake Google Play Domains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Phishing and malware distribution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A4C7D090-B02F-4DC7-8443-7DE40B026E28}"/>
              </a:ext>
            </a:extLst>
          </p:cNvPr>
          <p:cNvSpPr/>
          <p:nvPr/>
        </p:nvSpPr>
        <p:spPr>
          <a:xfrm>
            <a:off x="898788" y="4510049"/>
            <a:ext cx="1373161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Legacy Version Vulnerabilities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44% of Android users running outdated, vulnerable Gingerbread version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631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93677"/>
            <a:ext cx="1663541" cy="373142"/>
          </a:xfrm>
          <a:prstGeom prst="roundRect">
            <a:avLst>
              <a:gd name="adj" fmla="val 6383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53208"/>
            <a:ext cx="14254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BUSINESS IMPACT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246114"/>
            <a:ext cx="77585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The Business Case for Security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162181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assessment 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has become a crucial component for all phases of the Software Development Life Cycle (SDLC) due to the emergence of viruses, spyware, hacking, and internet deception.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339709"/>
            <a:ext cx="4215289" cy="2096095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</p:sp>
      <p:sp>
        <p:nvSpPr>
          <p:cNvPr id="7" name="Text 5"/>
          <p:cNvSpPr/>
          <p:nvPr/>
        </p:nvSpPr>
        <p:spPr>
          <a:xfrm>
            <a:off x="992148" y="4538067"/>
            <a:ext cx="27857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Customer Perspective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2148" y="4967288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Securing computers and information against threats is essential. Maximum security measures ensure safe entry and exit to the World Wide Web.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07437" y="4339709"/>
            <a:ext cx="4215408" cy="2096095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</p:sp>
      <p:sp>
        <p:nvSpPr>
          <p:cNvPr id="10" name="Text 8"/>
          <p:cNvSpPr/>
          <p:nvPr/>
        </p:nvSpPr>
        <p:spPr>
          <a:xfrm>
            <a:off x="5405795" y="45380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Risk 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05795" y="4967288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estimation is a crucial element of the risk-management process.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21203" y="4339709"/>
            <a:ext cx="4215289" cy="2096095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9819561" y="45380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Cost Implications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19561" y="4967288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Failures lead to elevated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278" y="751284"/>
            <a:ext cx="10839807" cy="54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Gary McGraw's Three Pillars of Software Security</a:t>
            </a:r>
            <a:endParaRPr lang="en-US"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55821" y="1728311"/>
            <a:ext cx="246459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56861" y="1840432"/>
            <a:ext cx="2191464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Knowledge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53293" y="2197300"/>
            <a:ext cx="7683937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Principles, strategy, policy, vulnerabilities, exploits, attack patterns, historical risk evaluations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863566" y="2660809"/>
            <a:ext cx="8742045" cy="11430"/>
          </a:xfrm>
          <a:prstGeom prst="roundRect">
            <a:avLst>
              <a:gd name="adj" fmla="val 230087"/>
            </a:avLst>
          </a:prstGeom>
          <a:solidFill>
            <a:srgbClr val="D6D0D0"/>
          </a:solidFill>
          <a:ln/>
        </p:spPr>
      </p:sp>
      <p:sp>
        <p:nvSpPr>
          <p:cNvPr id="9" name="Text 5"/>
          <p:cNvSpPr/>
          <p:nvPr/>
        </p:nvSpPr>
        <p:spPr>
          <a:xfrm>
            <a:off x="855821" y="2819182"/>
            <a:ext cx="246459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56861" y="2930287"/>
            <a:ext cx="3406854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Software Security Touchpoints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253293" y="3343559"/>
            <a:ext cx="5429964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Practical application of security throughout development lifecycle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425416" y="3777536"/>
            <a:ext cx="7650718" cy="11430"/>
          </a:xfrm>
          <a:prstGeom prst="roundRect">
            <a:avLst>
              <a:gd name="adj" fmla="val 230087"/>
            </a:avLst>
          </a:prstGeom>
          <a:solidFill>
            <a:srgbClr val="D6D0D0"/>
          </a:solidFill>
          <a:ln/>
        </p:spPr>
      </p:sp>
      <p:sp>
        <p:nvSpPr>
          <p:cNvPr id="14" name="Text 9"/>
          <p:cNvSpPr/>
          <p:nvPr/>
        </p:nvSpPr>
        <p:spPr>
          <a:xfrm>
            <a:off x="855702" y="3881728"/>
            <a:ext cx="246459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556861" y="3996828"/>
            <a:ext cx="2191464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Risk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253293" y="4435687"/>
            <a:ext cx="453294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Comprehensive assessment and mitigation strategies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01278" y="5497163"/>
            <a:ext cx="13227844" cy="84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The absence of these three fundamental pillars in any software system confirms incomplete security.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8055" y="556498"/>
            <a:ext cx="1150858" cy="310277"/>
          </a:xfrm>
          <a:prstGeom prst="roundRect">
            <a:avLst>
              <a:gd name="adj" fmla="val 6073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853" y="611148"/>
            <a:ext cx="947261" cy="200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D1D1B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COST ANALYSIS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8055" y="1004827"/>
            <a:ext cx="8742164" cy="490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0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The Economics of Early Security Integration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55" y="2334697"/>
            <a:ext cx="471011" cy="1143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5990" y="2491621"/>
            <a:ext cx="2073593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Requirements Phase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55990" y="2831187"/>
            <a:ext cx="1274635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Lowest cost to fix defects — early detection saves exponential costs later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60" y="3433763"/>
            <a:ext cx="471011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1496" y="3590687"/>
            <a:ext cx="1962864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Design Phase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491496" y="3930253"/>
            <a:ext cx="12510849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 cost increase — architectural changes still manageable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66" y="4532828"/>
            <a:ext cx="471011" cy="1143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27002" y="4689753"/>
            <a:ext cx="2279690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Implementation Phase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727002" y="5029319"/>
            <a:ext cx="12275344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cost escalation — code changes become expensive</a:t>
            </a: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691" y="5631894"/>
            <a:ext cx="471011" cy="1143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962626" y="5788819"/>
            <a:ext cx="1962864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Testing Phase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962626" y="6128385"/>
            <a:ext cx="12039719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cost impact — defects require extensive rework</a:t>
            </a: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66" y="6730960"/>
            <a:ext cx="471011" cy="1143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727002" y="6887885"/>
            <a:ext cx="1962864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Production Phase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1727002" y="7227451"/>
            <a:ext cx="12275344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cost — defects persist longer, become exponentially more expensive to correct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1108"/>
            <a:ext cx="59561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Critical Factors for Security Problems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5719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Connectivity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927628"/>
            <a:ext cx="3979664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The spread of internet facilities creates opportunities for intruders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65182" y="235719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Complexity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65182" y="2927628"/>
            <a:ext cx="39796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Studies show 20% of software modules are responsible for 80% of errors. Fragile modules are more complex and less structured.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36574" y="235719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Extensibility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36574" y="2927628"/>
            <a:ext cx="411503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Incorporating security mechanisms into the development life cycle is essential for building secure products.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5333850"/>
            <a:ext cx="13042821" cy="32385"/>
          </a:xfrm>
          <a:prstGeom prst="rect">
            <a:avLst/>
          </a:prstGeom>
          <a:solidFill>
            <a:srgbClr val="61615C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91446" y="5812631"/>
            <a:ext cx="127451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Key Insight: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The sooner vulnerabilities are detected and addressed, the easier it will be to fix the problem.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Project managers should address security throughout the SDLC.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5589389"/>
            <a:ext cx="22860" cy="1399103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545" y="511135"/>
            <a:ext cx="1879640" cy="349329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988" y="611386"/>
            <a:ext cx="148709" cy="1487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992" y="566857"/>
            <a:ext cx="1433751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CORE COMPONENTS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3545" y="934760"/>
            <a:ext cx="8722995" cy="581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Essential Security Components</a:t>
            </a:r>
            <a:endParaRPr lang="en-US"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381387" y="2261182"/>
            <a:ext cx="23237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Confidentiality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2369" y="2663137"/>
            <a:ext cx="3992761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Prevents unauthorized disclosure and limits access to information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151" y="3006923"/>
            <a:ext cx="4600099" cy="4600099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9927" y="3680281"/>
            <a:ext cx="278130" cy="2781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94094" y="2159080"/>
            <a:ext cx="23237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50"/>
              </a:lnSpc>
            </a:pPr>
            <a:r>
              <a:rPr lang="en-US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</a:p>
        </p:txBody>
      </p:sp>
      <p:sp>
        <p:nvSpPr>
          <p:cNvPr id="12" name="Text 7"/>
          <p:cNvSpPr/>
          <p:nvPr/>
        </p:nvSpPr>
        <p:spPr>
          <a:xfrm>
            <a:off x="9894094" y="2561035"/>
            <a:ext cx="3992761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credibility and trustworthiness of information resources</a:t>
            </a: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5151" y="3006923"/>
            <a:ext cx="4600099" cy="4600099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2105" y="3680281"/>
            <a:ext cx="278130" cy="27813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894094" y="3434478"/>
            <a:ext cx="23237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50"/>
              </a:lnSpc>
            </a:pPr>
            <a:r>
              <a:rPr lang="en-US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</p:txBody>
      </p:sp>
      <p:sp>
        <p:nvSpPr>
          <p:cNvPr id="16" name="Text 9"/>
          <p:cNvSpPr/>
          <p:nvPr/>
        </p:nvSpPr>
        <p:spPr>
          <a:xfrm>
            <a:off x="9894094" y="3836433"/>
            <a:ext cx="3992761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Guarantees readiness for correct services when required</a:t>
            </a: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5151" y="3006923"/>
            <a:ext cx="4600099" cy="4600099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63523" y="4551700"/>
            <a:ext cx="278130" cy="27813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894094" y="4709875"/>
            <a:ext cx="23237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50"/>
              </a:lnSpc>
            </a:pPr>
            <a:r>
              <a:rPr lang="en-US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sp>
        <p:nvSpPr>
          <p:cNvPr id="20" name="Text 11"/>
          <p:cNvSpPr/>
          <p:nvPr/>
        </p:nvSpPr>
        <p:spPr>
          <a:xfrm>
            <a:off x="9894094" y="5111830"/>
            <a:ext cx="3992761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 credentials and access permissions</a:t>
            </a:r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5151" y="3006923"/>
            <a:ext cx="4600099" cy="4600099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63523" y="5783878"/>
            <a:ext cx="278130" cy="27813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9894094" y="5985273"/>
            <a:ext cx="23237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50"/>
              </a:lnSpc>
            </a:pPr>
            <a:r>
              <a:rPr lang="en-US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</a:p>
        </p:txBody>
      </p:sp>
      <p:sp>
        <p:nvSpPr>
          <p:cNvPr id="24" name="Text 13"/>
          <p:cNvSpPr/>
          <p:nvPr/>
        </p:nvSpPr>
        <p:spPr>
          <a:xfrm>
            <a:off x="9894094" y="6397986"/>
            <a:ext cx="3992761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Confirms activities may be initiated by authenticated entities</a:t>
            </a:r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15151" y="3006923"/>
            <a:ext cx="4600099" cy="4600099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92105" y="6655296"/>
            <a:ext cx="278130" cy="27813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2381387" y="6235964"/>
            <a:ext cx="23237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</a:t>
            </a:r>
          </a:p>
        </p:txBody>
      </p:sp>
      <p:sp>
        <p:nvSpPr>
          <p:cNvPr id="28" name="Text 15"/>
          <p:cNvSpPr/>
          <p:nvPr/>
        </p:nvSpPr>
        <p:spPr>
          <a:xfrm>
            <a:off x="712369" y="6637920"/>
            <a:ext cx="3992761" cy="29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denial of data transfer involvement</a:t>
            </a:r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5151" y="3006923"/>
            <a:ext cx="4600099" cy="4600099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59927" y="6655296"/>
            <a:ext cx="278130" cy="27813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2381387" y="4811977"/>
            <a:ext cx="23237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</a:p>
        </p:txBody>
      </p:sp>
      <p:sp>
        <p:nvSpPr>
          <p:cNvPr id="32" name="Text 17"/>
          <p:cNvSpPr/>
          <p:nvPr/>
        </p:nvSpPr>
        <p:spPr>
          <a:xfrm>
            <a:off x="712369" y="5213932"/>
            <a:ext cx="3992761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 how personal information should be disclosed</a:t>
            </a:r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15151" y="3006923"/>
            <a:ext cx="4600099" cy="4600099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88509" y="5783878"/>
            <a:ext cx="278130" cy="278130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2381387" y="3536580"/>
            <a:ext cx="232374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Auditing</a:t>
            </a:r>
          </a:p>
        </p:txBody>
      </p:sp>
      <p:sp>
        <p:nvSpPr>
          <p:cNvPr id="36" name="Text 19"/>
          <p:cNvSpPr/>
          <p:nvPr/>
        </p:nvSpPr>
        <p:spPr>
          <a:xfrm>
            <a:off x="712369" y="3938535"/>
            <a:ext cx="3992761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traceability and monitoring capabilities</a:t>
            </a:r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05042" y="2998248"/>
            <a:ext cx="4600099" cy="4600099"/>
          </a:xfrm>
          <a:prstGeom prst="rect">
            <a:avLst/>
          </a:prstGeom>
        </p:spPr>
      </p:pic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88509" y="4551700"/>
            <a:ext cx="278130" cy="2781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0308"/>
            <a:ext cx="124719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Confidentiality: Protecting Information Disclosure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9850" y="2683343"/>
            <a:ext cx="12385856" cy="242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Confidentiality refers to unauthorized disclosure of information. </a:t>
            </a:r>
          </a:p>
          <a:p>
            <a:pPr algn="l">
              <a:lnSpc>
                <a:spcPts val="2500"/>
              </a:lnSpc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limits access to information in the right direction and prevents disclosure to unauthorized users.</a:t>
            </a:r>
          </a:p>
          <a:p>
            <a:pPr algn="l">
              <a:lnSpc>
                <a:spcPts val="2500"/>
              </a:lnSpc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Access Control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Limits information access to authorized users only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Data Preservation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Ensures no chance of information leakage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0342"/>
            <a:ext cx="1212603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Integrity: Ensuring Information Trustworthiness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8F3CB-9379-4BF7-811B-BAC5A5EA182A}"/>
              </a:ext>
            </a:extLst>
          </p:cNvPr>
          <p:cNvSpPr txBox="1"/>
          <p:nvPr/>
        </p:nvSpPr>
        <p:spPr>
          <a:xfrm>
            <a:off x="896674" y="2295474"/>
            <a:ext cx="990400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Credibility of information Resources</a:t>
            </a:r>
          </a:p>
          <a:p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Trustworthiness</a:t>
            </a:r>
            <a:r>
              <a:rPr lang="en-US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guaranteed veracity of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cannot be modified undetectably in information security systems</a:t>
            </a:r>
          </a:p>
          <a:p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protection from improper modification by intentional or accidental acts.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7575"/>
            <a:ext cx="101107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Availability: Ensuring System Readiness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284095"/>
            <a:ext cx="130503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Availability is the readiness for correct services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The degree to which a system or component is operational when required for use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For any information system to serve its purpose, information must be available when needed</a:t>
            </a:r>
          </a:p>
          <a:p>
            <a:pPr algn="l">
              <a:lnSpc>
                <a:spcPts val="2500"/>
              </a:lnSpc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Computing System Units 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must function correctly to store and process information</a:t>
            </a:r>
          </a:p>
          <a:p>
            <a:pPr>
              <a:lnSpc>
                <a:spcPts val="2500"/>
              </a:lnSpc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Control Units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must be operational to protect information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Communication Channels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must be functioning to access information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53108"/>
            <a:ext cx="1621869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120259"/>
            <a:ext cx="136850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D1D1B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ACCESS CONTROL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520785"/>
            <a:ext cx="831877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Authentication and Authorization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38519"/>
            <a:ext cx="6521410" cy="793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4306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Authentication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2148" y="3859887"/>
            <a:ext cx="612469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Validates user credentials: user ID, password, access code, transaction ID for accessing applications.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Creates login applications with generated valid tokens. 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Rejects unauthenticated access attempts and blocks continuous fake login attempts.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438519"/>
            <a:ext cx="6521410" cy="7937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3558" y="34306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</a:p>
        </p:txBody>
      </p:sp>
      <p:sp>
        <p:nvSpPr>
          <p:cNvPr id="10" name="Text 6"/>
          <p:cNvSpPr/>
          <p:nvPr/>
        </p:nvSpPr>
        <p:spPr>
          <a:xfrm>
            <a:off x="7513558" y="3859887"/>
            <a:ext cx="612469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Confirms activities may be initiated by authenticated entities.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 data tampering and information disclosure threats.</a:t>
            </a:r>
          </a:p>
          <a:p>
            <a:pPr marL="285750" indent="-28575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approved claims against sensitive database columns.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9507"/>
            <a:ext cx="723816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Non-repudiation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6170" y="2065209"/>
            <a:ext cx="129975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Failure to override data transfer requires that senders or recipients cannot deny their involvement in the process.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3480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Requirements: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84798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Trusted authorization for sender, receiver, and data scope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23493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Trusted data transmission mechanisms</a:t>
            </a:r>
          </a:p>
        </p:txBody>
      </p:sp>
      <p:sp>
        <p:nvSpPr>
          <p:cNvPr id="8" name="Text 6"/>
          <p:cNvSpPr/>
          <p:nvPr/>
        </p:nvSpPr>
        <p:spPr>
          <a:xfrm>
            <a:off x="793790" y="462188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Trusted authentication of users</a:t>
            </a:r>
          </a:p>
        </p:txBody>
      </p:sp>
      <p:sp>
        <p:nvSpPr>
          <p:cNvPr id="9" name="Text 7"/>
          <p:cNvSpPr/>
          <p:nvPr/>
        </p:nvSpPr>
        <p:spPr>
          <a:xfrm>
            <a:off x="793790" y="5008840"/>
            <a:ext cx="6279356" cy="63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Trusted binding of sender to data sent and receiver to data received</a:t>
            </a:r>
          </a:p>
        </p:txBody>
      </p:sp>
      <p:sp>
        <p:nvSpPr>
          <p:cNvPr id="11" name="Text 9"/>
          <p:cNvSpPr/>
          <p:nvPr/>
        </p:nvSpPr>
        <p:spPr>
          <a:xfrm>
            <a:off x="786170" y="548514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Traceability and audit mechanisms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9507"/>
            <a:ext cx="723816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Privacy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9463" y="1870949"/>
            <a:ext cx="1297147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1615C"/>
                </a:solidFill>
                <a:effectLst/>
                <a:uLnTx/>
                <a:uFillTx/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Definition: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1615C"/>
                </a:solidFill>
                <a:effectLst/>
                <a:uLnTx/>
                <a:uFillTx/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Controls how personal information should be disclosed, offering users control over their information disclosure.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9463" y="30642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Mechanisms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00742" y="3514989"/>
            <a:ext cx="935690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1615C"/>
                </a:solidFill>
                <a:effectLst/>
                <a:uLnTx/>
                <a:uFillTx/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Trusted confidentiality mechanism for accessing personal information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00742" y="391739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1615C"/>
                </a:solidFill>
                <a:effectLst/>
                <a:uLnTx/>
                <a:uFillTx/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Secure data transfer requirements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00742" y="430434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1615C"/>
                </a:solidFill>
                <a:effectLst/>
                <a:uLnTx/>
                <a:uFillTx/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Strong user and process authentication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00742" y="476248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1615C"/>
                </a:solidFill>
                <a:effectLst/>
                <a:uLnTx/>
                <a:uFillTx/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Defined scope of access for all users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707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11423"/>
            <a:ext cx="2027634" cy="373142"/>
          </a:xfrm>
          <a:prstGeom prst="roundRect">
            <a:avLst>
              <a:gd name="adj" fmla="val 6383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970955"/>
            <a:ext cx="178950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KEY CHARACTERISTICS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363861"/>
            <a:ext cx="945582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Ten Essential Security Characteristics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268974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3790" y="3004074"/>
            <a:ext cx="4215289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31489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Ability to Trust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3578193"/>
            <a:ext cx="409780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Establishes balances between trustor and trustee through physiological beliefs among participants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07437" y="268974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07437" y="3004074"/>
            <a:ext cx="421540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2" name="Text 10"/>
          <p:cNvSpPr/>
          <p:nvPr/>
        </p:nvSpPr>
        <p:spPr>
          <a:xfrm>
            <a:off x="5207437" y="3148973"/>
            <a:ext cx="27435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Defects Ramifications</a:t>
            </a:r>
          </a:p>
        </p:txBody>
      </p:sp>
      <p:sp>
        <p:nvSpPr>
          <p:cNvPr id="13" name="Text 11"/>
          <p:cNvSpPr/>
          <p:nvPr/>
        </p:nvSpPr>
        <p:spPr>
          <a:xfrm>
            <a:off x="5207437" y="3578193"/>
            <a:ext cx="409792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Software defects can compromise security and introduce vulnerabilities that exploit intended functionalities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21203" y="268974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21203" y="3004074"/>
            <a:ext cx="4215289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6" name="Text 14"/>
          <p:cNvSpPr/>
          <p:nvPr/>
        </p:nvSpPr>
        <p:spPr>
          <a:xfrm>
            <a:off x="9621203" y="3148973"/>
            <a:ext cx="25344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Pervasive Approach</a:t>
            </a:r>
          </a:p>
        </p:txBody>
      </p:sp>
      <p:sp>
        <p:nvSpPr>
          <p:cNvPr id="17" name="Text 15"/>
          <p:cNvSpPr/>
          <p:nvPr/>
        </p:nvSpPr>
        <p:spPr>
          <a:xfrm>
            <a:off x="9621203" y="3578193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must be explored in broader sense across multidimensional nature in every dimension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487799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04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3790" y="5192324"/>
            <a:ext cx="6422112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0" name="Text 18"/>
          <p:cNvSpPr/>
          <p:nvPr/>
        </p:nvSpPr>
        <p:spPr>
          <a:xfrm>
            <a:off x="793790" y="5337223"/>
            <a:ext cx="29483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Failure-Free Operations</a:t>
            </a:r>
          </a:p>
        </p:txBody>
      </p:sp>
      <p:sp>
        <p:nvSpPr>
          <p:cNvPr id="21" name="Text 19"/>
          <p:cNvSpPr/>
          <p:nvPr/>
        </p:nvSpPr>
        <p:spPr>
          <a:xfrm>
            <a:off x="793790" y="5766443"/>
            <a:ext cx="619868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Capability of running applications under malicious conditions with guaranteed failure-free operations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14260" y="487799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05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14260" y="5192324"/>
            <a:ext cx="6422231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4" name="Text 22"/>
          <p:cNvSpPr/>
          <p:nvPr/>
        </p:nvSpPr>
        <p:spPr>
          <a:xfrm>
            <a:off x="7414260" y="53372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Resilience</a:t>
            </a:r>
          </a:p>
        </p:txBody>
      </p:sp>
      <p:sp>
        <p:nvSpPr>
          <p:cNvPr id="25" name="Text 23"/>
          <p:cNvSpPr/>
          <p:nvPr/>
        </p:nvSpPr>
        <p:spPr>
          <a:xfrm>
            <a:off x="7414260" y="5766443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Building mechanisms for attack resilience through authentication and authorization protective measures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828" y="641390"/>
            <a:ext cx="831984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Security Characteristics (Continued)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22828" y="1567459"/>
            <a:ext cx="4274463" cy="2875450"/>
          </a:xfrm>
          <a:prstGeom prst="roundRect">
            <a:avLst>
              <a:gd name="adj" fmla="val 775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03446" y="2470785"/>
            <a:ext cx="225909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Conformance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03446" y="2861429"/>
            <a:ext cx="3913227" cy="14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Acting according to specific accepted standards. Degree of compliance with functional and non-functional requirements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177909" y="1567458"/>
            <a:ext cx="4274463" cy="2875451"/>
          </a:xfrm>
          <a:prstGeom prst="roundRect">
            <a:avLst>
              <a:gd name="adj" fmla="val 775"/>
            </a:avLst>
          </a:prstGeom>
          <a:solidFill>
            <a:schemeClr val="bg1"/>
          </a:solidFill>
          <a:ln/>
        </p:spPr>
      </p:sp>
      <p:sp>
        <p:nvSpPr>
          <p:cNvPr id="11" name="Text 7"/>
          <p:cNvSpPr/>
          <p:nvPr/>
        </p:nvSpPr>
        <p:spPr>
          <a:xfrm>
            <a:off x="5358527" y="2470785"/>
            <a:ext cx="225909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</a:p>
        </p:txBody>
      </p:sp>
      <p:sp>
        <p:nvSpPr>
          <p:cNvPr id="12" name="Text 8"/>
          <p:cNvSpPr/>
          <p:nvPr/>
        </p:nvSpPr>
        <p:spPr>
          <a:xfrm>
            <a:off x="5358527" y="2861429"/>
            <a:ext cx="3913227" cy="115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How computer systems deal with errors during execution.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632990" y="1567458"/>
            <a:ext cx="4274463" cy="2875451"/>
          </a:xfrm>
          <a:prstGeom prst="roundRect">
            <a:avLst>
              <a:gd name="adj" fmla="val 775"/>
            </a:avLst>
          </a:prstGeom>
          <a:solidFill>
            <a:schemeClr val="bg1"/>
          </a:solidFill>
          <a:ln/>
        </p:spPr>
      </p:sp>
      <p:sp>
        <p:nvSpPr>
          <p:cNvPr id="16" name="Text 11"/>
          <p:cNvSpPr/>
          <p:nvPr/>
        </p:nvSpPr>
        <p:spPr>
          <a:xfrm>
            <a:off x="9813608" y="2470785"/>
            <a:ext cx="225909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Trustworthiness</a:t>
            </a:r>
          </a:p>
        </p:txBody>
      </p:sp>
      <p:sp>
        <p:nvSpPr>
          <p:cNvPr id="17" name="Text 12"/>
          <p:cNvSpPr/>
          <p:nvPr/>
        </p:nvSpPr>
        <p:spPr>
          <a:xfrm>
            <a:off x="9813608" y="2861429"/>
            <a:ext cx="3913227" cy="2023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Software performs for specific purpose when necessary, with new changes, without unwanted side effects or exploitative weaknesses.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22829" y="5246251"/>
            <a:ext cx="6140768" cy="2341840"/>
          </a:xfrm>
          <a:prstGeom prst="roundRect">
            <a:avLst>
              <a:gd name="adj" fmla="val 1158"/>
            </a:avLst>
          </a:prstGeom>
          <a:solidFill>
            <a:schemeClr val="bg1"/>
          </a:solidFill>
          <a:ln/>
        </p:spPr>
      </p:sp>
      <p:sp>
        <p:nvSpPr>
          <p:cNvPr id="21" name="Text 15"/>
          <p:cNvSpPr/>
          <p:nvPr/>
        </p:nvSpPr>
        <p:spPr>
          <a:xfrm>
            <a:off x="903446" y="6149578"/>
            <a:ext cx="225909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 Control</a:t>
            </a:r>
          </a:p>
        </p:txBody>
      </p:sp>
      <p:sp>
        <p:nvSpPr>
          <p:cNvPr id="22" name="Text 16"/>
          <p:cNvSpPr/>
          <p:nvPr/>
        </p:nvSpPr>
        <p:spPr>
          <a:xfrm>
            <a:off x="903446" y="6540222"/>
            <a:ext cx="6140768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Possible damages must be identified and mitigated. System returns to error-free stage after detecting and recovering from damages.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7405449" y="5246251"/>
            <a:ext cx="6502003" cy="2341840"/>
          </a:xfrm>
          <a:prstGeom prst="roundRect">
            <a:avLst>
              <a:gd name="adj" fmla="val 1158"/>
            </a:avLst>
          </a:prstGeom>
          <a:solidFill>
            <a:schemeClr val="bg1"/>
          </a:solidFill>
          <a:ln/>
        </p:spPr>
      </p:sp>
      <p:sp>
        <p:nvSpPr>
          <p:cNvPr id="26" name="Text 19"/>
          <p:cNvSpPr/>
          <p:nvPr/>
        </p:nvSpPr>
        <p:spPr>
          <a:xfrm>
            <a:off x="7586067" y="6149578"/>
            <a:ext cx="2259092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Defect Removal</a:t>
            </a:r>
          </a:p>
        </p:txBody>
      </p:sp>
      <p:sp>
        <p:nvSpPr>
          <p:cNvPr id="27" name="Text 20"/>
          <p:cNvSpPr/>
          <p:nvPr/>
        </p:nvSpPr>
        <p:spPr>
          <a:xfrm>
            <a:off x="7586067" y="6540222"/>
            <a:ext cx="6140768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60-90% of computer defects are due to software faults.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8935CC2-AA42-49FB-AE56-D8EBC5907AC1}"/>
              </a:ext>
            </a:extLst>
          </p:cNvPr>
          <p:cNvSpPr/>
          <p:nvPr/>
        </p:nvSpPr>
        <p:spPr>
          <a:xfrm>
            <a:off x="1176450" y="199770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06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19996E29-3923-47FC-8390-F68851F76B6E}"/>
              </a:ext>
            </a:extLst>
          </p:cNvPr>
          <p:cNvSpPr/>
          <p:nvPr/>
        </p:nvSpPr>
        <p:spPr>
          <a:xfrm>
            <a:off x="5608600" y="20421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07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C213D33C-B3E8-4704-8825-D571258052DC}"/>
              </a:ext>
            </a:extLst>
          </p:cNvPr>
          <p:cNvSpPr/>
          <p:nvPr/>
        </p:nvSpPr>
        <p:spPr>
          <a:xfrm>
            <a:off x="9986963" y="201062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08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0B0F635B-5DD3-4ED3-ACD8-B57FD26A4379}"/>
              </a:ext>
            </a:extLst>
          </p:cNvPr>
          <p:cNvSpPr/>
          <p:nvPr/>
        </p:nvSpPr>
        <p:spPr>
          <a:xfrm>
            <a:off x="990762" y="55495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09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5BA76FDF-3A7D-436E-BDA5-3FFC1BF27D30}"/>
              </a:ext>
            </a:extLst>
          </p:cNvPr>
          <p:cNvSpPr/>
          <p:nvPr/>
        </p:nvSpPr>
        <p:spPr>
          <a:xfrm>
            <a:off x="7553347" y="55969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Light" pitchFamily="34" charset="-122"/>
                <a:cs typeface="Times New Roman" panose="02020603050405020304" pitchFamily="18" charset="0"/>
              </a:rPr>
              <a:t>10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C1A7BBE3-C69F-48C5-98FE-F0373F8AFFAE}"/>
              </a:ext>
            </a:extLst>
          </p:cNvPr>
          <p:cNvSpPr/>
          <p:nvPr/>
        </p:nvSpPr>
        <p:spPr>
          <a:xfrm>
            <a:off x="374242" y="2425468"/>
            <a:ext cx="4215289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B436407A-EDEC-479A-A4D9-ED9EEF9CB183}"/>
              </a:ext>
            </a:extLst>
          </p:cNvPr>
          <p:cNvSpPr/>
          <p:nvPr/>
        </p:nvSpPr>
        <p:spPr>
          <a:xfrm>
            <a:off x="5056465" y="2413424"/>
            <a:ext cx="4215289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46C0FC37-7D77-4B17-92E5-862BC08DC553}"/>
              </a:ext>
            </a:extLst>
          </p:cNvPr>
          <p:cNvSpPr/>
          <p:nvPr/>
        </p:nvSpPr>
        <p:spPr>
          <a:xfrm>
            <a:off x="9813608" y="2390564"/>
            <a:ext cx="4215289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0078B459-2845-4C73-A195-5D34A5668BC7}"/>
              </a:ext>
            </a:extLst>
          </p:cNvPr>
          <p:cNvSpPr/>
          <p:nvPr/>
        </p:nvSpPr>
        <p:spPr>
          <a:xfrm>
            <a:off x="542212" y="6018371"/>
            <a:ext cx="4215289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9810E4F3-EBE0-40A2-9426-78B9BE71B255}"/>
              </a:ext>
            </a:extLst>
          </p:cNvPr>
          <p:cNvSpPr/>
          <p:nvPr/>
        </p:nvSpPr>
        <p:spPr>
          <a:xfrm>
            <a:off x="7324638" y="6006941"/>
            <a:ext cx="4215289" cy="22860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021" y="375404"/>
            <a:ext cx="1067157" cy="271820"/>
          </a:xfrm>
          <a:prstGeom prst="roundRect">
            <a:avLst>
              <a:gd name="adj" fmla="val 6028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5556" y="423982"/>
            <a:ext cx="888087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1D1D1B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CLASSIFICATION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6021" y="701754"/>
            <a:ext cx="5584984" cy="42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Five Types of Computer Security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77440" y="1507332"/>
            <a:ext cx="546021" cy="1223486"/>
          </a:xfrm>
          <a:prstGeom prst="roundRect">
            <a:avLst>
              <a:gd name="adj" fmla="val 401"/>
            </a:avLst>
          </a:prstGeom>
          <a:solidFill>
            <a:srgbClr val="F0EAEA"/>
          </a:solidFill>
          <a:ln/>
        </p:spPr>
      </p:sp>
      <p:sp>
        <p:nvSpPr>
          <p:cNvPr id="8" name="Text 6"/>
          <p:cNvSpPr/>
          <p:nvPr/>
        </p:nvSpPr>
        <p:spPr>
          <a:xfrm>
            <a:off x="748056" y="1991083"/>
            <a:ext cx="20478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59906" y="1643777"/>
            <a:ext cx="1706642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Network Security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59906" y="1938933"/>
            <a:ext cx="12688967" cy="655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Leading field specializing in computer networking and security of infrastructural setup.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Network administrators implement security policies, allocate hardware/software resources, and build mechanisms to protect network resource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7440" y="2897744"/>
            <a:ext cx="546021" cy="1005007"/>
          </a:xfrm>
          <a:prstGeom prst="roundRect">
            <a:avLst>
              <a:gd name="adj" fmla="val 401"/>
            </a:avLst>
          </a:prstGeom>
          <a:solidFill>
            <a:srgbClr val="F0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748056" y="3272195"/>
            <a:ext cx="20478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9906" y="3195559"/>
            <a:ext cx="1706642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3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</p:txBody>
      </p:sp>
      <p:sp>
        <p:nvSpPr>
          <p:cNvPr id="15" name="Text 13"/>
          <p:cNvSpPr/>
          <p:nvPr/>
        </p:nvSpPr>
        <p:spPr>
          <a:xfrm>
            <a:off x="1259906" y="3490715"/>
            <a:ext cx="12688967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Operating systems are accountable for controlling access to system resources containing sensitive data..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7440" y="4069676"/>
            <a:ext cx="546021" cy="1005007"/>
          </a:xfrm>
          <a:prstGeom prst="roundRect">
            <a:avLst>
              <a:gd name="adj" fmla="val 401"/>
            </a:avLst>
          </a:prstGeom>
          <a:solidFill>
            <a:srgbClr val="F0EAEA"/>
          </a:solidFill>
          <a:ln/>
        </p:spPr>
      </p:sp>
      <p:sp>
        <p:nvSpPr>
          <p:cNvPr id="18" name="Text 16"/>
          <p:cNvSpPr/>
          <p:nvPr/>
        </p:nvSpPr>
        <p:spPr>
          <a:xfrm>
            <a:off x="748056" y="4444127"/>
            <a:ext cx="20478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59906" y="4206121"/>
            <a:ext cx="1706642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13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</p:txBody>
      </p:sp>
      <p:sp>
        <p:nvSpPr>
          <p:cNvPr id="20" name="Text 18"/>
          <p:cNvSpPr/>
          <p:nvPr/>
        </p:nvSpPr>
        <p:spPr>
          <a:xfrm>
            <a:off x="1259906" y="4501277"/>
            <a:ext cx="12688967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Focuses on individual user-level security measures and practices.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7440" y="5241608"/>
            <a:ext cx="546021" cy="1005007"/>
          </a:xfrm>
          <a:prstGeom prst="roundRect">
            <a:avLst>
              <a:gd name="adj" fmla="val 401"/>
            </a:avLst>
          </a:prstGeom>
          <a:solidFill>
            <a:srgbClr val="F0EAEA"/>
          </a:solidFill>
          <a:ln/>
        </p:spPr>
      </p:sp>
      <p:sp>
        <p:nvSpPr>
          <p:cNvPr id="23" name="Text 21"/>
          <p:cNvSpPr/>
          <p:nvPr/>
        </p:nvSpPr>
        <p:spPr>
          <a:xfrm>
            <a:off x="748056" y="5616060"/>
            <a:ext cx="20478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59906" y="5378054"/>
            <a:ext cx="1706642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3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</p:txBody>
      </p:sp>
      <p:sp>
        <p:nvSpPr>
          <p:cNvPr id="25" name="Text 23"/>
          <p:cNvSpPr/>
          <p:nvPr/>
        </p:nvSpPr>
        <p:spPr>
          <a:xfrm>
            <a:off x="1259906" y="5673210"/>
            <a:ext cx="12688967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data protection as unauthorized modification, destruction, or disclosure.</a:t>
            </a:r>
          </a:p>
        </p:txBody>
      </p:sp>
      <p:sp>
        <p:nvSpPr>
          <p:cNvPr id="27" name="Shape 25"/>
          <p:cNvSpPr/>
          <p:nvPr/>
        </p:nvSpPr>
        <p:spPr>
          <a:xfrm>
            <a:off x="577440" y="6413540"/>
            <a:ext cx="546021" cy="1005007"/>
          </a:xfrm>
          <a:prstGeom prst="roundRect">
            <a:avLst>
              <a:gd name="adj" fmla="val 401"/>
            </a:avLst>
          </a:prstGeom>
          <a:solidFill>
            <a:srgbClr val="F0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748056" y="6787992"/>
            <a:ext cx="20478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59906" y="6537807"/>
            <a:ext cx="1706642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13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</p:txBody>
      </p:sp>
      <p:sp>
        <p:nvSpPr>
          <p:cNvPr id="30" name="Text 28"/>
          <p:cNvSpPr/>
          <p:nvPr/>
        </p:nvSpPr>
        <p:spPr>
          <a:xfrm>
            <a:off x="1259906" y="6751048"/>
            <a:ext cx="12688967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 software against malicious attacks.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Continues functioning correctly under potential risks and attacks (buffer overflows, SQL injection, session hijacking)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Initiative for developing and implementing software with appropriate protective environment for data and resources.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63880"/>
            <a:ext cx="2002036" cy="373142"/>
          </a:xfrm>
          <a:prstGeom prst="roundRect">
            <a:avLst>
              <a:gd name="adj" fmla="val 6383"/>
            </a:avLst>
          </a:prstGeom>
          <a:solidFill>
            <a:srgbClr val="E6E6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852" y="671036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0858" y="623411"/>
            <a:ext cx="15259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DEBUNKING MYTHS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1016318"/>
            <a:ext cx="792432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Common Security Myths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64751" y="2324661"/>
            <a:ext cx="4215289" cy="1881870"/>
          </a:xfrm>
          <a:prstGeom prst="roundRect">
            <a:avLst>
              <a:gd name="adj" fmla="val 706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12852" y="2474470"/>
            <a:ext cx="357425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Myth 1: I Have Enough Security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023462" y="2921992"/>
            <a:ext cx="3574256" cy="123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Fact: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More security isn't necessarily better. Nobody can get 100% security on any ground.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5184576" y="2324662"/>
            <a:ext cx="4215408" cy="1881870"/>
          </a:xfrm>
          <a:prstGeom prst="roundRect">
            <a:avLst>
              <a:gd name="adj" fmla="val 706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388103" y="2494725"/>
            <a:ext cx="373438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Myth 2: Anti-Virus Makes Me Safe</a:t>
            </a:r>
          </a:p>
        </p:txBody>
      </p:sp>
      <p:sp>
        <p:nvSpPr>
          <p:cNvPr id="16" name="Text 9"/>
          <p:cNvSpPr/>
          <p:nvPr/>
        </p:nvSpPr>
        <p:spPr>
          <a:xfrm>
            <a:off x="5388103" y="2926441"/>
            <a:ext cx="3734382" cy="1488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Fact: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Installing anti-virus without proper updates is like taking expired pills. Anti-virus will not help against abuse by trusted insiders.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9504521" y="2324662"/>
            <a:ext cx="4331972" cy="1881871"/>
          </a:xfrm>
          <a:prstGeom prst="roundRect">
            <a:avLst>
              <a:gd name="adj" fmla="val 706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9621203" y="2497253"/>
            <a:ext cx="42152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Myth 3: Patches Fix All Security Holes</a:t>
            </a:r>
          </a:p>
        </p:txBody>
      </p:sp>
      <p:sp>
        <p:nvSpPr>
          <p:cNvPr id="21" name="Text 12"/>
          <p:cNvSpPr/>
          <p:nvPr/>
        </p:nvSpPr>
        <p:spPr>
          <a:xfrm>
            <a:off x="9782020" y="2921992"/>
            <a:ext cx="3574256" cy="1284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Fact: P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atches can create as many issues as they solve. Patches alone are not a complete security solution.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DA78A684-AD92-4269-BA86-EB8B6D47644C}"/>
              </a:ext>
            </a:extLst>
          </p:cNvPr>
          <p:cNvSpPr/>
          <p:nvPr/>
        </p:nvSpPr>
        <p:spPr>
          <a:xfrm>
            <a:off x="834266" y="4607082"/>
            <a:ext cx="4215289" cy="2299327"/>
          </a:xfrm>
          <a:prstGeom prst="roundRect">
            <a:avLst>
              <a:gd name="adj" fmla="val 706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A439FFA4-0CBE-4E67-9955-B044163BF1AD}"/>
              </a:ext>
            </a:extLst>
          </p:cNvPr>
          <p:cNvSpPr/>
          <p:nvPr/>
        </p:nvSpPr>
        <p:spPr>
          <a:xfrm>
            <a:off x="882366" y="4703384"/>
            <a:ext cx="399422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Myth 4: Security Is Always a Cryptographic Problem</a:t>
            </a: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6C1F4156-1632-4787-9E5D-9EC79B4A0B72}"/>
              </a:ext>
            </a:extLst>
          </p:cNvPr>
          <p:cNvSpPr/>
          <p:nvPr/>
        </p:nvSpPr>
        <p:spPr>
          <a:xfrm>
            <a:off x="921051" y="5642494"/>
            <a:ext cx="3779078" cy="123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Fact: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Cryptography can be used for standard security features but it's not a complete solution.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37F70B9F-D2D7-4870-8D95-5E2FCAC73DB4}"/>
              </a:ext>
            </a:extLst>
          </p:cNvPr>
          <p:cNvSpPr/>
          <p:nvPr/>
        </p:nvSpPr>
        <p:spPr>
          <a:xfrm>
            <a:off x="5154091" y="4607083"/>
            <a:ext cx="4215408" cy="2299326"/>
          </a:xfrm>
          <a:prstGeom prst="roundRect">
            <a:avLst>
              <a:gd name="adj" fmla="val 706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7970C3B4-EBB5-412F-9A77-AF39076CE3F3}"/>
              </a:ext>
            </a:extLst>
          </p:cNvPr>
          <p:cNvSpPr/>
          <p:nvPr/>
        </p:nvSpPr>
        <p:spPr>
          <a:xfrm>
            <a:off x="5327054" y="4660352"/>
            <a:ext cx="373438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Myth 5: Only Secure High-Risk Applications</a:t>
            </a:r>
          </a:p>
          <a:p>
            <a:pPr>
              <a:lnSpc>
                <a:spcPts val="2400"/>
              </a:lnSpc>
            </a:pPr>
            <a:endParaRPr lang="en-US" sz="1950" b="1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443DCBB7-3ED8-4577-ACFC-71FED7D22EF3}"/>
              </a:ext>
            </a:extLst>
          </p:cNvPr>
          <p:cNvSpPr/>
          <p:nvPr/>
        </p:nvSpPr>
        <p:spPr>
          <a:xfrm>
            <a:off x="5431591" y="5513995"/>
            <a:ext cx="3734382" cy="1488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Fact: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Provide alternative mechanisms to minimize cost analysis for low-risk projects while maintaining security standards.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637F64E8-4C00-4639-9C87-05F1160FFCE2}"/>
              </a:ext>
            </a:extLst>
          </p:cNvPr>
          <p:cNvSpPr/>
          <p:nvPr/>
        </p:nvSpPr>
        <p:spPr>
          <a:xfrm>
            <a:off x="9474036" y="4607083"/>
            <a:ext cx="4331972" cy="2299325"/>
          </a:xfrm>
          <a:prstGeom prst="roundRect">
            <a:avLst>
              <a:gd name="adj" fmla="val 706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DE3C4C54-5361-48A3-8F57-E2796C1DBBAD}"/>
              </a:ext>
            </a:extLst>
          </p:cNvPr>
          <p:cNvSpPr/>
          <p:nvPr/>
        </p:nvSpPr>
        <p:spPr>
          <a:xfrm>
            <a:off x="9590718" y="4704368"/>
            <a:ext cx="42152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Myth 6: Security Is Just Finding Bugs in Code</a:t>
            </a:r>
          </a:p>
          <a:p>
            <a:pPr>
              <a:lnSpc>
                <a:spcPts val="2400"/>
              </a:lnSpc>
            </a:pPr>
            <a:endParaRPr lang="en-US" sz="1950" b="1" dirty="0">
              <a:solidFill>
                <a:srgbClr val="616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09D03EF6-60B1-425A-A506-60415DF8C153}"/>
              </a:ext>
            </a:extLst>
          </p:cNvPr>
          <p:cNvSpPr/>
          <p:nvPr/>
        </p:nvSpPr>
        <p:spPr>
          <a:xfrm>
            <a:off x="9751535" y="5449692"/>
            <a:ext cx="3574256" cy="1284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Fact: 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While half of bugs are identified at implementation level, the other half represents different types of errors at the design level.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82993"/>
            <a:ext cx="1954768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150144"/>
            <a:ext cx="170140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D1D1B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STRATEGIC PLANNING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550670"/>
            <a:ext cx="1170789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Security Planning: </a:t>
            </a:r>
            <a:r>
              <a:rPr lang="en-US" sz="40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Current Challenges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4850"/>
              </a:lnSpc>
              <a:buNone/>
            </a:pP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2602483"/>
            <a:ext cx="129975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Lack of Awareness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Developers' fraternity lacking sensitivity, education, and training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306976"/>
            <a:ext cx="1065234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Growing Threats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Increasing versatility and complexity of attacks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4011469"/>
            <a:ext cx="1035113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Code Complexity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Rapidly increasing code size and complexity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471596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Openness and Connectivity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Expanding attack surfaces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89" y="5430265"/>
            <a:ext cx="1020052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Complacency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Security still considered post-development activity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89" y="6234023"/>
            <a:ext cx="902794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Legacy Software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5319" y="443627"/>
            <a:ext cx="1294090" cy="303133"/>
          </a:xfrm>
          <a:prstGeom prst="roundRect">
            <a:avLst>
              <a:gd name="adj" fmla="val 6387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742117" y="491966"/>
            <a:ext cx="110049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SSA FRAMEWORK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5319" y="811292"/>
            <a:ext cx="7195542" cy="504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Software Security Assurance (SSA)</a:t>
            </a:r>
            <a:endParaRPr lang="en-US"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5319" y="1557457"/>
            <a:ext cx="10962181" cy="449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and implementing tools that protect information and resources designed by software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comprehensive security measures throughout lifecycle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in operation will persist to function consistently despite the occurrence of intentional defects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processed information has appropriate security requirements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tools and data for software maintenance and management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61615C"/>
              </a:solidFill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5319" y="3536275"/>
            <a:ext cx="409348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449" y="925711"/>
            <a:ext cx="7718703" cy="574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Key SSA Elements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9677" y="1787760"/>
            <a:ext cx="2757964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Primary Elements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9677" y="2339257"/>
            <a:ext cx="413623" cy="413623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5" name="Text 3"/>
          <p:cNvSpPr/>
          <p:nvPr/>
        </p:nvSpPr>
        <p:spPr>
          <a:xfrm>
            <a:off x="967133" y="2402360"/>
            <a:ext cx="244482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Secure Development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7133" y="2873372"/>
            <a:ext cx="5757982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Implementing security throughout the development lifecycle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9677" y="3535121"/>
            <a:ext cx="413623" cy="413623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8" name="Text 6"/>
          <p:cNvSpPr/>
          <p:nvPr/>
        </p:nvSpPr>
        <p:spPr>
          <a:xfrm>
            <a:off x="967133" y="3598224"/>
            <a:ext cx="3017639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Vulnerability Remediation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7133" y="4069235"/>
            <a:ext cx="5757982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Identifying and fixing security weaknesses systematically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9677" y="4730985"/>
            <a:ext cx="413623" cy="413623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11" name="Text 9"/>
          <p:cNvSpPr/>
          <p:nvPr/>
        </p:nvSpPr>
        <p:spPr>
          <a:xfrm>
            <a:off x="967133" y="4794088"/>
            <a:ext cx="2373154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Disclosure Practices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7133" y="5265099"/>
            <a:ext cx="5757982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Transparent communication about security issues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9677" y="5926849"/>
            <a:ext cx="413623" cy="413623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967133" y="5989952"/>
            <a:ext cx="2886432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Independent Verification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7133" y="6460963"/>
            <a:ext cx="5757982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Third-party security validations and assessments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0" y="1812846"/>
            <a:ext cx="2757964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Elements</a:t>
            </a:r>
          </a:p>
        </p:txBody>
      </p:sp>
      <p:sp>
        <p:nvSpPr>
          <p:cNvPr id="17" name="Text 15"/>
          <p:cNvSpPr/>
          <p:nvPr/>
        </p:nvSpPr>
        <p:spPr>
          <a:xfrm>
            <a:off x="7315200" y="2341364"/>
            <a:ext cx="6355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Threat Modeling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Systematic identification of potential threats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0" y="2699742"/>
            <a:ext cx="6355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Refactoring 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Improving code structure for security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0" y="3058121"/>
            <a:ext cx="6355437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Cryptography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Implementing encryption and secure communications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0" y="3710583"/>
            <a:ext cx="6355437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Vulnerability Databases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Tracking known weaknesses and exploits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0" y="4363046"/>
            <a:ext cx="6355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Static/Dynamic Analyzers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Automated security testing tools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0" y="4721424"/>
            <a:ext cx="6355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Sandboxing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Isolated execution environments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0" y="5079802"/>
            <a:ext cx="635543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Quality Control Strategies</a:t>
            </a: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Comprehensive testing approaches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87172"/>
            <a:ext cx="1683187" cy="373142"/>
          </a:xfrm>
          <a:prstGeom prst="roundRect">
            <a:avLst>
              <a:gd name="adj" fmla="val 6383"/>
            </a:avLst>
          </a:prstGeom>
          <a:solidFill>
            <a:srgbClr val="E6E6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852" y="1294328"/>
            <a:ext cx="158710" cy="158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0858" y="1246703"/>
            <a:ext cx="120705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MEASUREMENT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1639610"/>
            <a:ext cx="1119389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Software Security Measurement and Metrics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2280" y="38630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Asset Security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2148" y="4360783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Necessary means to ensure security for organizational assets and resources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141357" y="3733205"/>
            <a:ext cx="22860" cy="1461016"/>
          </a:xfrm>
          <a:prstGeom prst="roundRect">
            <a:avLst>
              <a:gd name="adj" fmla="val 130232"/>
            </a:avLst>
          </a:prstGeom>
          <a:solidFill>
            <a:srgbClr val="D6D0D0"/>
          </a:solidFill>
          <a:ln/>
        </p:spPr>
      </p:sp>
      <p:sp>
        <p:nvSpPr>
          <p:cNvPr id="13" name="Text 10"/>
          <p:cNvSpPr/>
          <p:nvPr/>
        </p:nvSpPr>
        <p:spPr>
          <a:xfrm>
            <a:off x="5339715" y="3931563"/>
            <a:ext cx="255698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Stability</a:t>
            </a:r>
          </a:p>
        </p:txBody>
      </p:sp>
      <p:sp>
        <p:nvSpPr>
          <p:cNvPr id="14" name="Text 11"/>
          <p:cNvSpPr/>
          <p:nvPr/>
        </p:nvSpPr>
        <p:spPr>
          <a:xfrm>
            <a:off x="5339715" y="4360783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Maintaining consistent and reliable security operations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488924" y="3733205"/>
            <a:ext cx="22860" cy="1461016"/>
          </a:xfrm>
          <a:prstGeom prst="roundRect">
            <a:avLst>
              <a:gd name="adj" fmla="val 130232"/>
            </a:avLst>
          </a:prstGeom>
          <a:solidFill>
            <a:srgbClr val="D6D0D0"/>
          </a:solidFill>
          <a:ln/>
        </p:spPr>
      </p:sp>
      <p:sp>
        <p:nvSpPr>
          <p:cNvPr id="17" name="Text 14"/>
          <p:cNvSpPr/>
          <p:nvPr/>
        </p:nvSpPr>
        <p:spPr>
          <a:xfrm>
            <a:off x="9687282" y="3931563"/>
            <a:ext cx="27342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Civil Security Support</a:t>
            </a:r>
          </a:p>
        </p:txBody>
      </p:sp>
      <p:sp>
        <p:nvSpPr>
          <p:cNvPr id="18" name="Text 15"/>
          <p:cNvSpPr/>
          <p:nvPr/>
        </p:nvSpPr>
        <p:spPr>
          <a:xfrm>
            <a:off x="9687282" y="4360783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Supporting broader security objectives and compliance requirements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5815"/>
            <a:ext cx="1047738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The Importance of Security Measurement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0365" y="1857256"/>
            <a:ext cx="1315124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Cohesive Understanding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Develops clear roles and responsibilities for enterprise-wide security goals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0365" y="2561749"/>
            <a:ext cx="1315124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Specific Guidelines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Removes guesswork from developer intelligence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0365" y="3266242"/>
            <a:ext cx="1315124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Universal Risk Framework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Enables consistent risk impact calculation at project/portfolio level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365" y="3970735"/>
            <a:ext cx="1315124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Objective Rationale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Makes objectives perceptible to all assumptions, threats, and policies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0365" y="4675228"/>
            <a:ext cx="1315124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Cost Estimation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Helps estimate software security and project costs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70365" y="5379720"/>
            <a:ext cx="1315124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Technology Impact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Evaluates effects of development technologies, especially reuse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70365" y="6084213"/>
            <a:ext cx="1315124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Requirements Traceability</a:t>
            </a:r>
            <a:r>
              <a:rPr lang="en-US" sz="24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— Reveals that requirements meet expected 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814" y="417909"/>
            <a:ext cx="801767" cy="285393"/>
          </a:xfrm>
          <a:prstGeom prst="roundRect">
            <a:avLst>
              <a:gd name="adj" fmla="val 6390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698897" y="463391"/>
            <a:ext cx="619601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SUMMARY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7814" y="764024"/>
            <a:ext cx="9296876" cy="47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Conclusion: The Imperative of Software Security</a:t>
            </a:r>
            <a:endParaRPr lang="en-US" sz="2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5700" y="1637705"/>
            <a:ext cx="10506446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b="1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Software is under severe threat, much more than ever before!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7814" y="1466731"/>
            <a:ext cx="15240" cy="584954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Text 6"/>
          <p:cNvSpPr/>
          <p:nvPr/>
        </p:nvSpPr>
        <p:spPr>
          <a:xfrm>
            <a:off x="2970490" y="3232824"/>
            <a:ext cx="199715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Software Integration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14676" y="3663453"/>
            <a:ext cx="435983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Inevitable integration across all systems and devices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662755" y="2782054"/>
            <a:ext cx="243601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Technology Convergence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603256" y="3106179"/>
            <a:ext cx="507222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Fast convergence of computing and communications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9966603" y="4342011"/>
            <a:ext cx="2345531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Expanding Functionality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016964" y="4711997"/>
            <a:ext cx="6244808" cy="48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Ever-expanding desirable functionalities requiring security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9662755" y="6145093"/>
            <a:ext cx="244161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Dependable Components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834416" y="6473706"/>
            <a:ext cx="435983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Evolution of dependable software components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2625328" y="5694323"/>
            <a:ext cx="234231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Revolutionary Approach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2214675" y="6047358"/>
            <a:ext cx="435983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Revolutionary rather than evolutionary security perspective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9369" y="460177"/>
            <a:ext cx="1281232" cy="329803"/>
          </a:xfrm>
          <a:prstGeom prst="roundRect">
            <a:avLst>
              <a:gd name="adj" fmla="val 6089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359" y="517922"/>
            <a:ext cx="1065252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D1D1B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KEY TAKEAWAYS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9369" y="856893"/>
            <a:ext cx="4338757" cy="522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Points to Remember</a:t>
            </a:r>
            <a:endParaRPr lang="en-US" sz="3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9369" y="1881783"/>
            <a:ext cx="6562130" cy="1773674"/>
          </a:xfrm>
          <a:prstGeom prst="roundRect">
            <a:avLst>
              <a:gd name="adj" fmla="val 6186"/>
            </a:avLst>
          </a:prstGeom>
          <a:solidFill>
            <a:srgbClr val="FCFCFC"/>
          </a:solidFill>
          <a:ln/>
        </p:spPr>
      </p:sp>
      <p:sp>
        <p:nvSpPr>
          <p:cNvPr id="6" name="Shape 4"/>
          <p:cNvSpPr/>
          <p:nvPr/>
        </p:nvSpPr>
        <p:spPr>
          <a:xfrm>
            <a:off x="669369" y="1858923"/>
            <a:ext cx="6562130" cy="91440"/>
          </a:xfrm>
          <a:prstGeom prst="roundRect">
            <a:avLst>
              <a:gd name="adj" fmla="val 27454"/>
            </a:avLst>
          </a:prstGeom>
          <a:solidFill>
            <a:srgbClr val="1D1D1B"/>
          </a:solidFill>
          <a:ln/>
        </p:spPr>
      </p:sp>
      <p:sp>
        <p:nvSpPr>
          <p:cNvPr id="7" name="Shape 5"/>
          <p:cNvSpPr/>
          <p:nvPr/>
        </p:nvSpPr>
        <p:spPr>
          <a:xfrm>
            <a:off x="3699391" y="1630799"/>
            <a:ext cx="501968" cy="501968"/>
          </a:xfrm>
          <a:prstGeom prst="roundRect">
            <a:avLst>
              <a:gd name="adj" fmla="val 182163"/>
            </a:avLst>
          </a:prstGeom>
          <a:solidFill>
            <a:srgbClr val="1D1D1B"/>
          </a:solidFill>
          <a:ln/>
        </p:spPr>
      </p:sp>
      <p:sp>
        <p:nvSpPr>
          <p:cNvPr id="8" name="Text 6"/>
          <p:cNvSpPr/>
          <p:nvPr/>
        </p:nvSpPr>
        <p:spPr>
          <a:xfrm>
            <a:off x="3850005" y="1756291"/>
            <a:ext cx="200739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1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9512" y="2300168"/>
            <a:ext cx="284952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Early Quantitative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9512" y="2661999"/>
            <a:ext cx="6181844" cy="80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Quantitative analysis of software security at an early stage enables the basis for assessing security technologies and addressing trade-offs between security objectives and costs.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98782" y="1881783"/>
            <a:ext cx="6562249" cy="1773674"/>
          </a:xfrm>
          <a:prstGeom prst="roundRect">
            <a:avLst>
              <a:gd name="adj" fmla="val 6186"/>
            </a:avLst>
          </a:prstGeom>
          <a:solidFill>
            <a:srgbClr val="FCF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98782" y="1858923"/>
            <a:ext cx="6562249" cy="91440"/>
          </a:xfrm>
          <a:prstGeom prst="roundRect">
            <a:avLst>
              <a:gd name="adj" fmla="val 27454"/>
            </a:avLst>
          </a:prstGeom>
          <a:solidFill>
            <a:srgbClr val="1D1D1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28923" y="1630799"/>
            <a:ext cx="501968" cy="501968"/>
          </a:xfrm>
          <a:prstGeom prst="roundRect">
            <a:avLst>
              <a:gd name="adj" fmla="val 182163"/>
            </a:avLst>
          </a:prstGeom>
          <a:solidFill>
            <a:srgbClr val="1D1D1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79537" y="1756291"/>
            <a:ext cx="200739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2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88925" y="2300168"/>
            <a:ext cx="3348752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Qualitative Analysis Limitations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88925" y="2661999"/>
            <a:ext cx="6181963" cy="80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Researchers and practitioners strongly assume that qualitative analysis results can no longer be used, and changes made in later SDLC stages are more expensive than early-stage changes.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9369" y="4073723"/>
            <a:ext cx="6562130" cy="1773674"/>
          </a:xfrm>
          <a:prstGeom prst="roundRect">
            <a:avLst>
              <a:gd name="adj" fmla="val 6186"/>
            </a:avLst>
          </a:prstGeom>
          <a:solidFill>
            <a:srgbClr val="FCF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9369" y="4050863"/>
            <a:ext cx="6562130" cy="91440"/>
          </a:xfrm>
          <a:prstGeom prst="roundRect">
            <a:avLst>
              <a:gd name="adj" fmla="val 27454"/>
            </a:avLst>
          </a:prstGeom>
          <a:solidFill>
            <a:srgbClr val="1D1D1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99391" y="3822740"/>
            <a:ext cx="501968" cy="501968"/>
          </a:xfrm>
          <a:prstGeom prst="roundRect">
            <a:avLst>
              <a:gd name="adj" fmla="val 182163"/>
            </a:avLst>
          </a:prstGeom>
          <a:solidFill>
            <a:srgbClr val="1D1D1B"/>
          </a:solidFill>
          <a:ln/>
        </p:spPr>
      </p:sp>
      <p:sp>
        <p:nvSpPr>
          <p:cNvPr id="20" name="Text 18"/>
          <p:cNvSpPr/>
          <p:nvPr/>
        </p:nvSpPr>
        <p:spPr>
          <a:xfrm>
            <a:off x="3850005" y="3948232"/>
            <a:ext cx="200739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9512" y="4492109"/>
            <a:ext cx="2337078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Essential Assessment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9512" y="4853940"/>
            <a:ext cx="6181844" cy="80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Software security assessment is considered an essential component to improve software security and is valid for developing and implementing security products.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98782" y="4073723"/>
            <a:ext cx="6562249" cy="1773674"/>
          </a:xfrm>
          <a:prstGeom prst="roundRect">
            <a:avLst>
              <a:gd name="adj" fmla="val 6186"/>
            </a:avLst>
          </a:prstGeom>
          <a:solidFill>
            <a:srgbClr val="FCF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7398782" y="4050863"/>
            <a:ext cx="6562249" cy="91440"/>
          </a:xfrm>
          <a:prstGeom prst="roundRect">
            <a:avLst>
              <a:gd name="adj" fmla="val 27454"/>
            </a:avLst>
          </a:prstGeom>
          <a:solidFill>
            <a:srgbClr val="1D1D1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28923" y="3822740"/>
            <a:ext cx="501968" cy="501968"/>
          </a:xfrm>
          <a:prstGeom prst="roundRect">
            <a:avLst>
              <a:gd name="adj" fmla="val 182163"/>
            </a:avLst>
          </a:prstGeom>
          <a:solidFill>
            <a:srgbClr val="1D1D1B"/>
          </a:solidFill>
          <a:ln/>
        </p:spPr>
      </p:sp>
      <p:sp>
        <p:nvSpPr>
          <p:cNvPr id="26" name="Text 24"/>
          <p:cNvSpPr/>
          <p:nvPr/>
        </p:nvSpPr>
        <p:spPr>
          <a:xfrm>
            <a:off x="10579537" y="3948232"/>
            <a:ext cx="200739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88925" y="4492109"/>
            <a:ext cx="2548652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Vulnerability Prevention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588925" y="4853940"/>
            <a:ext cx="6181963" cy="53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assessments reduce the likelihood of security vulnerabilities being clarified and exposed by malicious customers or users.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69369" y="6265664"/>
            <a:ext cx="6562130" cy="1505903"/>
          </a:xfrm>
          <a:prstGeom prst="roundRect">
            <a:avLst>
              <a:gd name="adj" fmla="val 7287"/>
            </a:avLst>
          </a:prstGeom>
          <a:solidFill>
            <a:srgbClr val="FCFC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69369" y="6242804"/>
            <a:ext cx="6562130" cy="91440"/>
          </a:xfrm>
          <a:prstGeom prst="roundRect">
            <a:avLst>
              <a:gd name="adj" fmla="val 27454"/>
            </a:avLst>
          </a:prstGeom>
          <a:solidFill>
            <a:srgbClr val="1D1D1B"/>
          </a:solidFill>
          <a:ln/>
        </p:spPr>
      </p:sp>
      <p:sp>
        <p:nvSpPr>
          <p:cNvPr id="31" name="Shape 29"/>
          <p:cNvSpPr/>
          <p:nvPr/>
        </p:nvSpPr>
        <p:spPr>
          <a:xfrm>
            <a:off x="3699391" y="6014680"/>
            <a:ext cx="501968" cy="501968"/>
          </a:xfrm>
          <a:prstGeom prst="roundRect">
            <a:avLst>
              <a:gd name="adj" fmla="val 182163"/>
            </a:avLst>
          </a:prstGeom>
          <a:solidFill>
            <a:srgbClr val="1D1D1B"/>
          </a:solidFill>
          <a:ln/>
        </p:spPr>
      </p:sp>
      <p:sp>
        <p:nvSpPr>
          <p:cNvPr id="32" name="Text 30"/>
          <p:cNvSpPr/>
          <p:nvPr/>
        </p:nvSpPr>
        <p:spPr>
          <a:xfrm>
            <a:off x="3850005" y="6140172"/>
            <a:ext cx="200739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9512" y="6684050"/>
            <a:ext cx="2091928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Ultimate Goal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9512" y="7045881"/>
            <a:ext cx="6181844" cy="53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The ultimate goal of incorporating security is to verify strength and prevent vulnerabilities from entering the program.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398782" y="6265664"/>
            <a:ext cx="6562249" cy="1505903"/>
          </a:xfrm>
          <a:prstGeom prst="roundRect">
            <a:avLst>
              <a:gd name="adj" fmla="val 7287"/>
            </a:avLst>
          </a:prstGeom>
          <a:solidFill>
            <a:srgbClr val="FCFCFC"/>
          </a:solidFill>
          <a:ln/>
        </p:spPr>
      </p:sp>
      <p:sp>
        <p:nvSpPr>
          <p:cNvPr id="36" name="Shape 34"/>
          <p:cNvSpPr/>
          <p:nvPr/>
        </p:nvSpPr>
        <p:spPr>
          <a:xfrm>
            <a:off x="7398782" y="6242804"/>
            <a:ext cx="6562249" cy="91440"/>
          </a:xfrm>
          <a:prstGeom prst="roundRect">
            <a:avLst>
              <a:gd name="adj" fmla="val 27454"/>
            </a:avLst>
          </a:prstGeom>
          <a:solidFill>
            <a:srgbClr val="1D1D1B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28923" y="6014680"/>
            <a:ext cx="501968" cy="501968"/>
          </a:xfrm>
          <a:prstGeom prst="roundRect">
            <a:avLst>
              <a:gd name="adj" fmla="val 182163"/>
            </a:avLst>
          </a:prstGeom>
          <a:solidFill>
            <a:srgbClr val="1D1D1B"/>
          </a:solidFill>
          <a:ln/>
        </p:spPr>
      </p:sp>
      <p:sp>
        <p:nvSpPr>
          <p:cNvPr id="38" name="Text 36"/>
          <p:cNvSpPr/>
          <p:nvPr/>
        </p:nvSpPr>
        <p:spPr>
          <a:xfrm>
            <a:off x="10579537" y="6140172"/>
            <a:ext cx="200739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588925" y="6684050"/>
            <a:ext cx="2091928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Critical Approach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588925" y="7045881"/>
            <a:ext cx="6181963" cy="53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Security has developed into a critical approach for ensuring software security and trustworthiness throughout the development lifecycle.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1068</TotalTime>
  <Words>2360</Words>
  <Application>Microsoft Office PowerPoint</Application>
  <PresentationFormat>Custom</PresentationFormat>
  <Paragraphs>390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Calibri Light</vt:lpstr>
      <vt:lpstr>Tomorrow Light</vt:lpstr>
      <vt:lpstr>Arial</vt:lpstr>
      <vt:lpstr>Calibri</vt:lpstr>
      <vt:lpstr>Tomorrow</vt:lpstr>
      <vt:lpstr>Times New Roman</vt:lpstr>
      <vt:lpstr>Tomorrow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Identified Mobile OS Threats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Dr. Maen Mohammad Mustafa Hammad</dc:creator>
  <cp:lastModifiedBy>Dr. Maen Mohammad Mustafa Hammad</cp:lastModifiedBy>
  <cp:revision>45</cp:revision>
  <dcterms:created xsi:type="dcterms:W3CDTF">2026-01-04T14:18:31Z</dcterms:created>
  <dcterms:modified xsi:type="dcterms:W3CDTF">2026-01-20T08:26:03Z</dcterms:modified>
</cp:coreProperties>
</file>